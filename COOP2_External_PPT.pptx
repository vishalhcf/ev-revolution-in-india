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6"/>
  </p:notesMasterIdLst>
  <p:handoutMasterIdLst>
    <p:handoutMasterId r:id="rId17"/>
  </p:handoutMasterIdLst>
  <p:sldIdLst>
    <p:sldId id="256" r:id="rId5"/>
    <p:sldId id="257" r:id="rId6"/>
    <p:sldId id="269" r:id="rId7"/>
    <p:sldId id="270" r:id="rId8"/>
    <p:sldId id="271" r:id="rId9"/>
    <p:sldId id="272" r:id="rId10"/>
    <p:sldId id="273" r:id="rId11"/>
    <p:sldId id="274" r:id="rId12"/>
    <p:sldId id="275" r:id="rId13"/>
    <p:sldId id="276" r:id="rId14"/>
    <p:sldId id="268" r:id="rId15"/>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79CD"/>
    <a:srgbClr val="8AB2E2"/>
    <a:srgbClr val="2A66AC"/>
    <a:srgbClr val="75A4DD"/>
    <a:srgbClr val="2E6CB8"/>
    <a:srgbClr val="2A65AC"/>
    <a:srgbClr val="255997"/>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inay2529.be22@chitkara.edu.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8211;harsh1627.be22@chitkara.edu.in" TargetMode="External"/><Relationship Id="rId4" Type="http://schemas.openxmlformats.org/officeDocument/2006/relationships/hyperlink" Target="mailto:vishal2536.be22@chitkara.edu.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9583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b="1"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r>
              <a:rPr lang="en-IN" b="1" dirty="0">
                <a:latin typeface="Times New Roman" panose="02020603050405020304" pitchFamily="18" charset="0"/>
                <a:ea typeface="Calibri" panose="020F0502020204030204" pitchFamily="34" charset="0"/>
                <a:cs typeface="Times New Roman" panose="02020603050405020304" pitchFamily="18" charset="0"/>
              </a:rPr>
              <a:t>(22CS421)</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a:latin typeface="Times New Roman" panose="02020603050405020304" pitchFamily="18" charset="0"/>
                <a:ea typeface="Calibri" panose="020F0502020204030204" pitchFamily="34" charset="0"/>
                <a:cs typeface="Times New Roman" panose="02020603050405020304" pitchFamily="18" charset="0"/>
              </a:rPr>
              <a:t>Electric Vehicle Revolution In India </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1.Vinay Sharma – </a:t>
            </a:r>
            <a:r>
              <a:rPr lang="en-US" sz="2000" spc="-1" dirty="0">
                <a:solidFill>
                  <a:srgbClr val="000000"/>
                </a:solidFill>
                <a:latin typeface="Times New Roman" panose="02020603050405020304" pitchFamily="18" charset="0"/>
                <a:ea typeface="MS PGothic"/>
                <a:cs typeface="Times New Roman" panose="02020603050405020304" pitchFamily="18" charset="0"/>
                <a:hlinkClick r:id="rId3"/>
              </a:rPr>
              <a:t>vinay2529.be22@chitkara.edu.in</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2.Vishal Kumar – </a:t>
            </a:r>
            <a:r>
              <a:rPr lang="en-US" sz="2000" spc="-1" dirty="0">
                <a:solidFill>
                  <a:srgbClr val="000000"/>
                </a:solidFill>
                <a:latin typeface="Times New Roman" panose="02020603050405020304" pitchFamily="18" charset="0"/>
                <a:ea typeface="MS PGothic"/>
                <a:cs typeface="Times New Roman" panose="02020603050405020304" pitchFamily="18" charset="0"/>
                <a:hlinkClick r:id="rId4"/>
              </a:rPr>
              <a:t>vishal2536.be22@chitkara.edu.in</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          3.HarshVardhan Singh </a:t>
            </a:r>
            <a:r>
              <a:rPr lang="en-US" sz="2000" spc="-1" dirty="0">
                <a:solidFill>
                  <a:schemeClr val="tx2">
                    <a:lumMod val="60000"/>
                    <a:lumOff val="40000"/>
                  </a:schemeClr>
                </a:solidFill>
                <a:latin typeface="Times New Roman" panose="02020603050405020304" pitchFamily="18" charset="0"/>
                <a:ea typeface="MS PGothic"/>
                <a:cs typeface="Times New Roman" panose="02020603050405020304" pitchFamily="18" charset="0"/>
                <a:hlinkClick r:id="rId5">
                  <a:extLst>
                    <a:ext uri="{A12FA001-AC4F-418D-AE19-62706E023703}">
                      <ahyp:hlinkClr xmlns:ahyp="http://schemas.microsoft.com/office/drawing/2018/hyperlinkcolor" val="tx"/>
                    </a:ext>
                  </a:extLst>
                </a:hlinkClick>
              </a:rPr>
              <a:t>– </a:t>
            </a:r>
            <a:r>
              <a:rPr lang="en-US" sz="2000" spc="-1" dirty="0">
                <a:solidFill>
                  <a:srgbClr val="3379CD"/>
                </a:solidFill>
                <a:latin typeface="Times New Roman" panose="02020603050405020304" pitchFamily="18" charset="0"/>
                <a:ea typeface="MS PGothic"/>
                <a:cs typeface="Times New Roman" panose="02020603050405020304" pitchFamily="18" charset="0"/>
                <a:hlinkClick r:id="rId5">
                  <a:extLst>
                    <a:ext uri="{A12FA001-AC4F-418D-AE19-62706E023703}">
                      <ahyp:hlinkClr xmlns:ahyp="http://schemas.microsoft.com/office/drawing/2018/hyperlinkcolor" val="tx"/>
                    </a:ext>
                  </a:extLst>
                </a:hlinkClick>
              </a:rPr>
              <a:t>harsh1627</a:t>
            </a:r>
            <a:r>
              <a:rPr lang="en-US" sz="2000" spc="-1" dirty="0">
                <a:solidFill>
                  <a:schemeClr val="tx2">
                    <a:lumMod val="60000"/>
                    <a:lumOff val="40000"/>
                  </a:schemeClr>
                </a:solidFill>
                <a:latin typeface="Times New Roman" panose="02020603050405020304" pitchFamily="18" charset="0"/>
                <a:ea typeface="MS PGothic"/>
                <a:cs typeface="Times New Roman" panose="02020603050405020304" pitchFamily="18" charset="0"/>
                <a:hlinkClick r:id="rId5">
                  <a:extLst>
                    <a:ext uri="{A12FA001-AC4F-418D-AE19-62706E023703}">
                      <ahyp:hlinkClr xmlns:ahyp="http://schemas.microsoft.com/office/drawing/2018/hyperlinkcolor" val="tx"/>
                    </a:ext>
                  </a:extLst>
                </a:hlinkClick>
              </a:rPr>
              <a:t>.be22@chitkara.edu.in</a:t>
            </a:r>
            <a:endParaRPr lang="en-US" sz="2000" spc="-1" dirty="0">
              <a:solidFill>
                <a:schemeClr val="tx2">
                  <a:lumMod val="60000"/>
                  <a:lumOff val="40000"/>
                </a:schemeClr>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Mr. Ajay Sir</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5159083"/>
          </a:xfrm>
          <a:prstGeom prst="rect">
            <a:avLst/>
          </a:prstGeom>
          <a:noFill/>
          <a:ln w="9360">
            <a:noFill/>
          </a:ln>
        </p:spPr>
        <p:txBody>
          <a:bodyPr>
            <a:noAutofit/>
          </a:bodyPr>
          <a:lstStyle/>
          <a:p>
            <a:r>
              <a:rPr lang="en-US" sz="2000" dirty="0"/>
              <a:t>Electric Vehicles (EVs) are vehicles that use electricity as their primary source of energy instead of traditional fossil fuels such as petrol and diesel. EVs are considered one of the most important technological advancements in the transportation sector because they help reduce pollution and dependence on non-renewable energy sources.</a:t>
            </a:r>
          </a:p>
          <a:p>
            <a:endParaRPr lang="en-US" sz="2000" dirty="0"/>
          </a:p>
          <a:p>
            <a:r>
              <a:rPr lang="en-US" sz="2000" dirty="0"/>
              <a:t>India is rapidly moving toward electric mobility due to increasing environmental concerns, rising fuel prices, and government initiatives supporting clean transportation. The demand for EVs is growing in both two-wheelers and four-wheelers.</a:t>
            </a:r>
          </a:p>
          <a:p>
            <a:endParaRPr lang="en-US" sz="2000" dirty="0"/>
          </a:p>
          <a:p>
            <a:r>
              <a:rPr lang="en-US" sz="2000" b="1" dirty="0"/>
              <a:t>Key Points:</a:t>
            </a:r>
          </a:p>
          <a:p>
            <a:pPr marL="514350" indent="-514350">
              <a:buFont typeface="+mj-lt"/>
              <a:buAutoNum type="romanUcPeriod"/>
            </a:pPr>
            <a:r>
              <a:rPr lang="en-US" sz="2000" dirty="0"/>
              <a:t>EVs run on electric motors.</a:t>
            </a:r>
          </a:p>
          <a:p>
            <a:pPr marL="514350" indent="-514350">
              <a:buFont typeface="+mj-lt"/>
              <a:buAutoNum type="romanUcPeriod"/>
            </a:pPr>
            <a:r>
              <a:rPr lang="en-US" sz="2000" dirty="0"/>
              <a:t>They produce less pollution.</a:t>
            </a:r>
          </a:p>
          <a:p>
            <a:pPr marL="514350" indent="-514350">
              <a:buFont typeface="+mj-lt"/>
              <a:buAutoNum type="romanUcPeriod"/>
            </a:pPr>
            <a:r>
              <a:rPr lang="en-US" sz="2000" dirty="0"/>
              <a:t>They reduce fuel dependency.</a:t>
            </a:r>
          </a:p>
          <a:p>
            <a:pPr marL="514350" indent="-514350">
              <a:buFont typeface="+mj-lt"/>
              <a:buAutoNum type="romanUcPeriod"/>
            </a:pPr>
            <a:r>
              <a:rPr lang="en-US" sz="2000" dirty="0"/>
              <a:t>EV adoption is increasing rapidly in India.</a:t>
            </a:r>
          </a:p>
          <a:p>
            <a:endParaRPr lang="en-US" sz="2000" dirty="0"/>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B7D69-259B-2070-5267-697A8D90EAA6}"/>
              </a:ext>
            </a:extLst>
          </p:cNvPr>
          <p:cNvSpPr>
            <a:spLocks noGrp="1"/>
          </p:cNvSpPr>
          <p:nvPr>
            <p:ph type="title"/>
          </p:nvPr>
        </p:nvSpPr>
        <p:spPr/>
        <p:txBody>
          <a:bodyPr/>
          <a:lstStyle/>
          <a:p>
            <a:r>
              <a:rPr lang="en-IN" dirty="0"/>
              <a:t>Problem Statement</a:t>
            </a:r>
          </a:p>
        </p:txBody>
      </p:sp>
      <p:sp>
        <p:nvSpPr>
          <p:cNvPr id="3" name="Text Placeholder 2">
            <a:extLst>
              <a:ext uri="{FF2B5EF4-FFF2-40B4-BE49-F238E27FC236}">
                <a16:creationId xmlns:a16="http://schemas.microsoft.com/office/drawing/2014/main" id="{F7A9CADF-2C65-35CE-BE75-4ED17C37B8CE}"/>
              </a:ext>
            </a:extLst>
          </p:cNvPr>
          <p:cNvSpPr>
            <a:spLocks noGrp="1"/>
          </p:cNvSpPr>
          <p:nvPr>
            <p:ph type="body"/>
          </p:nvPr>
        </p:nvSpPr>
        <p:spPr>
          <a:xfrm>
            <a:off x="311085" y="1187777"/>
            <a:ext cx="8375355" cy="4713402"/>
          </a:xfrm>
        </p:spPr>
        <p:txBody>
          <a:bodyPr>
            <a:normAutofit fontScale="85000" lnSpcReduction="20000"/>
          </a:bodyPr>
          <a:lstStyle/>
          <a:p>
            <a:pPr>
              <a:buFont typeface="Wingdings" panose="05000000000000000000" pitchFamily="2" charset="2"/>
              <a:buChar char="q"/>
            </a:pPr>
            <a:r>
              <a:rPr lang="en-US" sz="2400" b="1" dirty="0"/>
              <a:t>Problems with Traditional Vehicles</a:t>
            </a:r>
          </a:p>
          <a:p>
            <a:pPr>
              <a:buFont typeface="Wingdings" panose="05000000000000000000" pitchFamily="2" charset="2"/>
              <a:buChar char="§"/>
            </a:pPr>
            <a:r>
              <a:rPr lang="en-US" sz="2200" dirty="0"/>
              <a:t>Traditional fuel-based vehicles create several environmental and economic problems. Petrol and diesel vehicles release harmful gases such as carbon dioxide and nitrogen oxides, which contribute to air pollution and global warming.</a:t>
            </a:r>
          </a:p>
          <a:p>
            <a:pPr>
              <a:buFont typeface="Wingdings" panose="05000000000000000000" pitchFamily="2" charset="2"/>
              <a:buChar char="§"/>
            </a:pPr>
            <a:r>
              <a:rPr lang="en-US" sz="2200" dirty="0"/>
              <a:t>The increasing cost of fossil fuels also creates financial pressure on consumers. Additionally, fossil fuels are limited natural resources and may become exhausted in the future.</a:t>
            </a:r>
          </a:p>
          <a:p>
            <a:pPr marL="0" indent="0">
              <a:buNone/>
            </a:pPr>
            <a:endParaRPr lang="en-US" sz="2200" dirty="0"/>
          </a:p>
          <a:p>
            <a:pPr>
              <a:buFont typeface="Wingdings" panose="05000000000000000000" pitchFamily="2" charset="2"/>
              <a:buChar char="q"/>
            </a:pPr>
            <a:r>
              <a:rPr lang="en-US" sz="2400" b="1" dirty="0"/>
              <a:t>Major Problems:</a:t>
            </a:r>
          </a:p>
          <a:p>
            <a:pPr marL="0" indent="0">
              <a:buNone/>
            </a:pPr>
            <a:endParaRPr lang="en-US" sz="2400" b="1" dirty="0"/>
          </a:p>
          <a:p>
            <a:r>
              <a:rPr lang="en-US" sz="2200" dirty="0"/>
              <a:t>Air pollution</a:t>
            </a:r>
          </a:p>
          <a:p>
            <a:r>
              <a:rPr lang="en-US" sz="2200" dirty="0"/>
              <a:t>Global warming</a:t>
            </a:r>
          </a:p>
          <a:p>
            <a:r>
              <a:rPr lang="en-US" sz="2200" dirty="0"/>
              <a:t>High fuel prices</a:t>
            </a:r>
          </a:p>
          <a:p>
            <a:r>
              <a:rPr lang="en-US" sz="2200" dirty="0"/>
              <a:t>Noise pollution</a:t>
            </a:r>
          </a:p>
          <a:p>
            <a:r>
              <a:rPr lang="en-US" sz="2200" dirty="0"/>
              <a:t>Dependence on imported oil</a:t>
            </a:r>
          </a:p>
          <a:p>
            <a:endParaRPr lang="en-IN" dirty="0"/>
          </a:p>
        </p:txBody>
      </p:sp>
    </p:spTree>
    <p:extLst>
      <p:ext uri="{BB962C8B-B14F-4D97-AF65-F5344CB8AC3E}">
        <p14:creationId xmlns:p14="http://schemas.microsoft.com/office/powerpoint/2010/main" val="2104190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A2F79-8F0E-6329-1CFF-0BA7037EC3AE}"/>
              </a:ext>
            </a:extLst>
          </p:cNvPr>
          <p:cNvSpPr>
            <a:spLocks noGrp="1"/>
          </p:cNvSpPr>
          <p:nvPr>
            <p:ph type="title"/>
          </p:nvPr>
        </p:nvSpPr>
        <p:spPr>
          <a:xfrm>
            <a:off x="-1" y="0"/>
            <a:ext cx="6410227" cy="914040"/>
          </a:xfrm>
        </p:spPr>
        <p:txBody>
          <a:bodyPr/>
          <a:lstStyle/>
          <a:p>
            <a:r>
              <a:rPr lang="en-IN" dirty="0"/>
              <a:t>Objectives of Research</a:t>
            </a:r>
          </a:p>
        </p:txBody>
      </p:sp>
      <p:sp>
        <p:nvSpPr>
          <p:cNvPr id="3" name="Text Placeholder 2">
            <a:extLst>
              <a:ext uri="{FF2B5EF4-FFF2-40B4-BE49-F238E27FC236}">
                <a16:creationId xmlns:a16="http://schemas.microsoft.com/office/drawing/2014/main" id="{6DD15DA7-0D79-4126-3375-D543155E215F}"/>
              </a:ext>
            </a:extLst>
          </p:cNvPr>
          <p:cNvSpPr>
            <a:spLocks noGrp="1"/>
          </p:cNvSpPr>
          <p:nvPr>
            <p:ph type="body"/>
          </p:nvPr>
        </p:nvSpPr>
        <p:spPr>
          <a:xfrm>
            <a:off x="457200" y="1159497"/>
            <a:ext cx="8229240" cy="4422303"/>
          </a:xfrm>
        </p:spPr>
        <p:txBody>
          <a:bodyPr/>
          <a:lstStyle/>
          <a:p>
            <a:pPr>
              <a:buNone/>
            </a:pPr>
            <a:r>
              <a:rPr lang="en-US" b="1" dirty="0"/>
              <a:t>Objectives of the Study</a:t>
            </a:r>
          </a:p>
          <a:p>
            <a:pPr>
              <a:buNone/>
            </a:pPr>
            <a:endParaRPr lang="en-US" b="1" dirty="0"/>
          </a:p>
          <a:p>
            <a:pPr>
              <a:buNone/>
            </a:pPr>
            <a:r>
              <a:rPr lang="en-US" dirty="0"/>
              <a:t>The main objectives of this research are:</a:t>
            </a:r>
          </a:p>
          <a:p>
            <a:pPr>
              <a:buFont typeface="Arial" panose="020B0604020202020204" pitchFamily="34" charset="0"/>
              <a:buChar char="•"/>
            </a:pPr>
            <a:r>
              <a:rPr lang="en-US" sz="2000" dirty="0"/>
              <a:t>To study the growth of Electric Vehicles in India.</a:t>
            </a:r>
          </a:p>
          <a:p>
            <a:pPr>
              <a:buFont typeface="Arial" panose="020B0604020202020204" pitchFamily="34" charset="0"/>
              <a:buChar char="•"/>
            </a:pPr>
            <a:r>
              <a:rPr lang="en-US" sz="2000" dirty="0"/>
              <a:t>To understand the advantages of EV technology.</a:t>
            </a:r>
          </a:p>
          <a:p>
            <a:pPr>
              <a:buFont typeface="Arial" panose="020B0604020202020204" pitchFamily="34" charset="0"/>
              <a:buChar char="•"/>
            </a:pPr>
            <a:r>
              <a:rPr lang="en-US" sz="2000" dirty="0"/>
              <a:t>To analyze government policies and initiatives.</a:t>
            </a:r>
          </a:p>
          <a:p>
            <a:pPr>
              <a:buFont typeface="Arial" panose="020B0604020202020204" pitchFamily="34" charset="0"/>
              <a:buChar char="•"/>
            </a:pPr>
            <a:r>
              <a:rPr lang="en-US" sz="2000" dirty="0"/>
              <a:t>To examine consumer awareness regarding EVs.</a:t>
            </a:r>
          </a:p>
          <a:p>
            <a:pPr>
              <a:buFont typeface="Arial" panose="020B0604020202020204" pitchFamily="34" charset="0"/>
              <a:buChar char="•"/>
            </a:pPr>
            <a:r>
              <a:rPr lang="en-US" sz="2000" dirty="0"/>
              <a:t>To identify challenges faced in EV adoption.</a:t>
            </a:r>
          </a:p>
          <a:p>
            <a:pPr>
              <a:buFont typeface="Arial" panose="020B0604020202020204" pitchFamily="34" charset="0"/>
              <a:buChar char="•"/>
            </a:pPr>
            <a:r>
              <a:rPr lang="en-US" sz="2000" dirty="0"/>
              <a:t>To explore the future scope of EVs in India.</a:t>
            </a:r>
          </a:p>
          <a:p>
            <a:endParaRPr lang="en-IN" dirty="0"/>
          </a:p>
        </p:txBody>
      </p:sp>
    </p:spTree>
    <p:extLst>
      <p:ext uri="{BB962C8B-B14F-4D97-AF65-F5344CB8AC3E}">
        <p14:creationId xmlns:p14="http://schemas.microsoft.com/office/powerpoint/2010/main" val="3567639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AF022-913E-22A1-5FC8-0CADBCC2674F}"/>
              </a:ext>
            </a:extLst>
          </p:cNvPr>
          <p:cNvSpPr>
            <a:spLocks noGrp="1"/>
          </p:cNvSpPr>
          <p:nvPr>
            <p:ph type="title"/>
          </p:nvPr>
        </p:nvSpPr>
        <p:spPr>
          <a:xfrm>
            <a:off x="0" y="0"/>
            <a:ext cx="6495068" cy="914040"/>
          </a:xfrm>
        </p:spPr>
        <p:txBody>
          <a:bodyPr/>
          <a:lstStyle/>
          <a:p>
            <a:r>
              <a:rPr lang="en-IN" dirty="0"/>
              <a:t>Types of Electric Vehicles</a:t>
            </a:r>
          </a:p>
        </p:txBody>
      </p:sp>
      <p:sp>
        <p:nvSpPr>
          <p:cNvPr id="16" name="Rectangle 5">
            <a:extLst>
              <a:ext uri="{FF2B5EF4-FFF2-40B4-BE49-F238E27FC236}">
                <a16:creationId xmlns:a16="http://schemas.microsoft.com/office/drawing/2014/main" id="{DD1F2A6A-0D34-5A4F-C54C-594E831787C1}"/>
              </a:ext>
            </a:extLst>
          </p:cNvPr>
          <p:cNvSpPr>
            <a:spLocks noGrp="1" noChangeArrowheads="1"/>
          </p:cNvSpPr>
          <p:nvPr>
            <p:ph type="body"/>
          </p:nvPr>
        </p:nvSpPr>
        <p:spPr bwMode="auto">
          <a:xfrm>
            <a:off x="268664" y="822095"/>
            <a:ext cx="8229240" cy="3977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BEVs are fully electric and eco-friendly.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HEVs combine electricity and fuel for efficiency.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PHEVs can be charged externally.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FCEVs are advanced EVs using hydrogen technology. </a:t>
            </a:r>
          </a:p>
        </p:txBody>
      </p:sp>
    </p:spTree>
    <p:extLst>
      <p:ext uri="{BB962C8B-B14F-4D97-AF65-F5344CB8AC3E}">
        <p14:creationId xmlns:p14="http://schemas.microsoft.com/office/powerpoint/2010/main" val="631988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AB6A-233A-057E-C57C-09BBAB3FB065}"/>
              </a:ext>
            </a:extLst>
          </p:cNvPr>
          <p:cNvSpPr>
            <a:spLocks noGrp="1"/>
          </p:cNvSpPr>
          <p:nvPr>
            <p:ph type="title"/>
          </p:nvPr>
        </p:nvSpPr>
        <p:spPr>
          <a:xfrm>
            <a:off x="0" y="0"/>
            <a:ext cx="6589336" cy="914040"/>
          </a:xfrm>
        </p:spPr>
        <p:txBody>
          <a:bodyPr/>
          <a:lstStyle/>
          <a:p>
            <a:r>
              <a:rPr lang="en-IN" sz="4000" dirty="0"/>
              <a:t>Current EV Market in India</a:t>
            </a:r>
          </a:p>
        </p:txBody>
      </p:sp>
      <p:sp>
        <p:nvSpPr>
          <p:cNvPr id="3" name="Text Placeholder 2">
            <a:extLst>
              <a:ext uri="{FF2B5EF4-FFF2-40B4-BE49-F238E27FC236}">
                <a16:creationId xmlns:a16="http://schemas.microsoft.com/office/drawing/2014/main" id="{F76E63AB-97CD-FF2E-489E-14B18C3E8E03}"/>
              </a:ext>
            </a:extLst>
          </p:cNvPr>
          <p:cNvSpPr>
            <a:spLocks noGrp="1"/>
          </p:cNvSpPr>
          <p:nvPr>
            <p:ph type="body"/>
          </p:nvPr>
        </p:nvSpPr>
        <p:spPr>
          <a:xfrm>
            <a:off x="457200" y="1065229"/>
            <a:ext cx="8229240" cy="4977352"/>
          </a:xfrm>
        </p:spPr>
        <p:txBody>
          <a:bodyPr>
            <a:normAutofit fontScale="70000" lnSpcReduction="20000"/>
          </a:bodyPr>
          <a:lstStyle/>
          <a:p>
            <a:pPr marL="0" indent="0">
              <a:buNone/>
            </a:pPr>
            <a:r>
              <a:rPr lang="en-US" b="1" dirty="0"/>
              <a:t>EV Market Growth in India</a:t>
            </a:r>
          </a:p>
          <a:p>
            <a:r>
              <a:rPr lang="en-US" sz="2600" dirty="0"/>
              <a:t>India’s EV market is growing rapidly due to government support, technological advancements, and increasing environmental awareness. Electric two-wheelers and cars are becoming more popular among consumers.</a:t>
            </a:r>
          </a:p>
          <a:p>
            <a:pPr marL="0" indent="0">
              <a:buNone/>
            </a:pPr>
            <a:r>
              <a:rPr lang="en-US" b="1" dirty="0"/>
              <a:t>Leading EV Companies:</a:t>
            </a:r>
          </a:p>
          <a:p>
            <a:r>
              <a:rPr lang="en-US" sz="2600" dirty="0"/>
              <a:t>Tata Motors</a:t>
            </a:r>
          </a:p>
          <a:p>
            <a:r>
              <a:rPr lang="en-US" sz="2600" dirty="0"/>
              <a:t>Mahindra Electric</a:t>
            </a:r>
          </a:p>
          <a:p>
            <a:r>
              <a:rPr lang="en-US" sz="2600" dirty="0"/>
              <a:t>Ola Electric</a:t>
            </a:r>
          </a:p>
          <a:p>
            <a:r>
              <a:rPr lang="en-US" sz="2600" dirty="0"/>
              <a:t>Ather Energy</a:t>
            </a:r>
          </a:p>
          <a:p>
            <a:r>
              <a:rPr lang="en-US" sz="2600" dirty="0"/>
              <a:t>MG Motors</a:t>
            </a:r>
          </a:p>
          <a:p>
            <a:pPr marL="0" indent="0">
              <a:buNone/>
            </a:pPr>
            <a:r>
              <a:rPr lang="en-US" b="1" dirty="0"/>
              <a:t>Market Trends:</a:t>
            </a:r>
          </a:p>
          <a:p>
            <a:r>
              <a:rPr lang="en-US" sz="2600" dirty="0"/>
              <a:t>Increase in EV sales every year.</a:t>
            </a:r>
          </a:p>
          <a:p>
            <a:r>
              <a:rPr lang="en-US" sz="2600" dirty="0"/>
              <a:t>Growth of charging stations.</a:t>
            </a:r>
          </a:p>
          <a:p>
            <a:r>
              <a:rPr lang="en-US" sz="2600" dirty="0"/>
              <a:t>Rising investment in EV manufacturing.</a:t>
            </a:r>
          </a:p>
          <a:p>
            <a:r>
              <a:rPr lang="en-US" sz="2600" dirty="0"/>
              <a:t>Strong demand for electric scooters</a:t>
            </a:r>
          </a:p>
          <a:p>
            <a:endParaRPr lang="en-IN" dirty="0"/>
          </a:p>
        </p:txBody>
      </p:sp>
    </p:spTree>
    <p:extLst>
      <p:ext uri="{BB962C8B-B14F-4D97-AF65-F5344CB8AC3E}">
        <p14:creationId xmlns:p14="http://schemas.microsoft.com/office/powerpoint/2010/main" val="1547185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3BBC6-C08F-3463-55AF-B6AB0C7A226E}"/>
              </a:ext>
            </a:extLst>
          </p:cNvPr>
          <p:cNvSpPr>
            <a:spLocks noGrp="1"/>
          </p:cNvSpPr>
          <p:nvPr>
            <p:ph type="title"/>
          </p:nvPr>
        </p:nvSpPr>
        <p:spPr>
          <a:xfrm>
            <a:off x="207390" y="0"/>
            <a:ext cx="5486040" cy="914040"/>
          </a:xfrm>
        </p:spPr>
        <p:txBody>
          <a:bodyPr/>
          <a:lstStyle/>
          <a:p>
            <a:r>
              <a:rPr lang="en-IN" sz="2800" dirty="0"/>
              <a:t>Advantages of Electric Vehicles</a:t>
            </a:r>
          </a:p>
        </p:txBody>
      </p:sp>
      <p:sp>
        <p:nvSpPr>
          <p:cNvPr id="3" name="Text Placeholder 2">
            <a:extLst>
              <a:ext uri="{FF2B5EF4-FFF2-40B4-BE49-F238E27FC236}">
                <a16:creationId xmlns:a16="http://schemas.microsoft.com/office/drawing/2014/main" id="{64B2DAF6-0F5C-4A0E-196C-483A94A01BF9}"/>
              </a:ext>
            </a:extLst>
          </p:cNvPr>
          <p:cNvSpPr>
            <a:spLocks noGrp="1"/>
          </p:cNvSpPr>
          <p:nvPr>
            <p:ph type="body"/>
          </p:nvPr>
        </p:nvSpPr>
        <p:spPr>
          <a:xfrm>
            <a:off x="457200" y="1178351"/>
            <a:ext cx="8229240" cy="4403449"/>
          </a:xfrm>
        </p:spPr>
        <p:txBody>
          <a:bodyPr>
            <a:normAutofit fontScale="70000" lnSpcReduction="20000"/>
          </a:bodyPr>
          <a:lstStyle/>
          <a:p>
            <a:pPr marL="0" indent="0">
              <a:buNone/>
            </a:pPr>
            <a:r>
              <a:rPr lang="en-US" b="1" dirty="0"/>
              <a:t>Benefits of EV Technology</a:t>
            </a:r>
          </a:p>
          <a:p>
            <a:r>
              <a:rPr lang="en-US" dirty="0"/>
              <a:t>Electric Vehicles provide several environmental and economic benefits.</a:t>
            </a:r>
          </a:p>
          <a:p>
            <a:pPr marL="0" indent="0">
              <a:buNone/>
            </a:pPr>
            <a:r>
              <a:rPr lang="en-US" b="1" dirty="0"/>
              <a:t>Major Advantages:</a:t>
            </a:r>
          </a:p>
          <a:p>
            <a:r>
              <a:rPr lang="en-US" dirty="0"/>
              <a:t>Eco-friendly transportation</a:t>
            </a:r>
          </a:p>
          <a:p>
            <a:r>
              <a:rPr lang="en-US" dirty="0"/>
              <a:t>Lower maintenance costs</a:t>
            </a:r>
          </a:p>
          <a:p>
            <a:r>
              <a:rPr lang="en-US" dirty="0"/>
              <a:t>Reduced fuel expenses</a:t>
            </a:r>
          </a:p>
          <a:p>
            <a:r>
              <a:rPr lang="en-US" dirty="0"/>
              <a:t>Better energy efficiency</a:t>
            </a:r>
          </a:p>
          <a:p>
            <a:r>
              <a:rPr lang="en-US" dirty="0"/>
              <a:t>Less noise pollution</a:t>
            </a:r>
          </a:p>
          <a:p>
            <a:r>
              <a:rPr lang="en-US" dirty="0"/>
              <a:t>Reduced carbon emissions</a:t>
            </a:r>
          </a:p>
          <a:p>
            <a:pPr marL="0" indent="0">
              <a:buNone/>
            </a:pPr>
            <a:r>
              <a:rPr lang="en-US" b="1" dirty="0"/>
              <a:t>Additional Benefits:</a:t>
            </a:r>
          </a:p>
          <a:p>
            <a:r>
              <a:rPr lang="en-US" dirty="0"/>
              <a:t>Smooth driving experience</a:t>
            </a:r>
          </a:p>
          <a:p>
            <a:r>
              <a:rPr lang="en-US" dirty="0"/>
              <a:t>Government incentives for buyers</a:t>
            </a:r>
          </a:p>
          <a:p>
            <a:r>
              <a:rPr lang="en-US" dirty="0"/>
              <a:t>Reduced dependence on fossil fuels</a:t>
            </a:r>
          </a:p>
          <a:p>
            <a:endParaRPr lang="en-IN" dirty="0"/>
          </a:p>
        </p:txBody>
      </p:sp>
    </p:spTree>
    <p:extLst>
      <p:ext uri="{BB962C8B-B14F-4D97-AF65-F5344CB8AC3E}">
        <p14:creationId xmlns:p14="http://schemas.microsoft.com/office/powerpoint/2010/main" val="1057652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1F911-FFA4-5ACF-EC8B-A9FB9C580F78}"/>
              </a:ext>
            </a:extLst>
          </p:cNvPr>
          <p:cNvSpPr>
            <a:spLocks noGrp="1"/>
          </p:cNvSpPr>
          <p:nvPr>
            <p:ph type="title"/>
          </p:nvPr>
        </p:nvSpPr>
        <p:spPr/>
        <p:txBody>
          <a:bodyPr/>
          <a:lstStyle/>
          <a:p>
            <a:r>
              <a:rPr lang="en-IN" sz="3600" dirty="0"/>
              <a:t>Challenges in EV Adoption</a:t>
            </a:r>
          </a:p>
        </p:txBody>
      </p:sp>
      <p:sp>
        <p:nvSpPr>
          <p:cNvPr id="3" name="Text Placeholder 2">
            <a:extLst>
              <a:ext uri="{FF2B5EF4-FFF2-40B4-BE49-F238E27FC236}">
                <a16:creationId xmlns:a16="http://schemas.microsoft.com/office/drawing/2014/main" id="{5543A2C7-E11F-F4CE-9B63-7C8DE5673AAC}"/>
              </a:ext>
            </a:extLst>
          </p:cNvPr>
          <p:cNvSpPr>
            <a:spLocks noGrp="1"/>
          </p:cNvSpPr>
          <p:nvPr>
            <p:ph type="body"/>
          </p:nvPr>
        </p:nvSpPr>
        <p:spPr>
          <a:xfrm>
            <a:off x="457200" y="1263192"/>
            <a:ext cx="8229240" cy="4318608"/>
          </a:xfrm>
        </p:spPr>
        <p:txBody>
          <a:bodyPr>
            <a:normAutofit fontScale="62500" lnSpcReduction="20000"/>
          </a:bodyPr>
          <a:lstStyle/>
          <a:p>
            <a:pPr marL="0" indent="0">
              <a:buNone/>
            </a:pPr>
            <a:r>
              <a:rPr lang="en-US" b="1" dirty="0"/>
              <a:t>Challenges Faced by EV Industry</a:t>
            </a:r>
          </a:p>
          <a:p>
            <a:r>
              <a:rPr lang="en-US" dirty="0"/>
              <a:t>Despite many advantages, EV adoption in India still faces several challenges.</a:t>
            </a:r>
          </a:p>
          <a:p>
            <a:pPr marL="0" indent="0">
              <a:buNone/>
            </a:pPr>
            <a:r>
              <a:rPr lang="en-US" b="1" dirty="0"/>
              <a:t>Major Challenges:</a:t>
            </a:r>
          </a:p>
          <a:p>
            <a:r>
              <a:rPr lang="en-US" dirty="0"/>
              <a:t>Limited charging stations</a:t>
            </a:r>
          </a:p>
          <a:p>
            <a:r>
              <a:rPr lang="en-US" dirty="0"/>
              <a:t>High initial purchase cost</a:t>
            </a:r>
          </a:p>
          <a:p>
            <a:r>
              <a:rPr lang="en-US" dirty="0"/>
              <a:t>Expensive battery replacement</a:t>
            </a:r>
          </a:p>
          <a:p>
            <a:r>
              <a:rPr lang="en-US" dirty="0"/>
              <a:t>Long charging time</a:t>
            </a:r>
          </a:p>
          <a:p>
            <a:r>
              <a:rPr lang="en-US" dirty="0"/>
              <a:t>Range anxiety among users</a:t>
            </a:r>
          </a:p>
          <a:p>
            <a:r>
              <a:rPr lang="en-US" dirty="0"/>
              <a:t>Lack of awareness in rural areas</a:t>
            </a:r>
          </a:p>
          <a:p>
            <a:pPr marL="0" indent="0">
              <a:buNone/>
            </a:pPr>
            <a:r>
              <a:rPr lang="en-US" b="1" dirty="0"/>
              <a:t>Infrastructure Issues:</a:t>
            </a:r>
          </a:p>
          <a:p>
            <a:r>
              <a:rPr lang="en-US" dirty="0"/>
              <a:t>Insufficient public charging points</a:t>
            </a:r>
          </a:p>
          <a:p>
            <a:r>
              <a:rPr lang="en-US" dirty="0"/>
              <a:t>Limited-service centers</a:t>
            </a:r>
          </a:p>
          <a:p>
            <a:r>
              <a:rPr lang="en-US" dirty="0"/>
              <a:t>Dependence on imported batteries</a:t>
            </a:r>
          </a:p>
          <a:p>
            <a:endParaRPr lang="en-IN" dirty="0"/>
          </a:p>
        </p:txBody>
      </p:sp>
    </p:spTree>
    <p:extLst>
      <p:ext uri="{BB962C8B-B14F-4D97-AF65-F5344CB8AC3E}">
        <p14:creationId xmlns:p14="http://schemas.microsoft.com/office/powerpoint/2010/main" val="670780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0DBD0-6471-FE77-BB6D-D7F73978CAE7}"/>
              </a:ext>
            </a:extLst>
          </p:cNvPr>
          <p:cNvSpPr>
            <a:spLocks noGrp="1"/>
          </p:cNvSpPr>
          <p:nvPr>
            <p:ph type="title"/>
          </p:nvPr>
        </p:nvSpPr>
        <p:spPr/>
        <p:txBody>
          <a:bodyPr/>
          <a:lstStyle/>
          <a:p>
            <a:r>
              <a:rPr lang="en-US" sz="3200" dirty="0"/>
              <a:t>Future Scope of EVs in India</a:t>
            </a:r>
            <a:endParaRPr lang="en-IN" sz="3200" dirty="0"/>
          </a:p>
        </p:txBody>
      </p:sp>
      <p:sp>
        <p:nvSpPr>
          <p:cNvPr id="3" name="Text Placeholder 2">
            <a:extLst>
              <a:ext uri="{FF2B5EF4-FFF2-40B4-BE49-F238E27FC236}">
                <a16:creationId xmlns:a16="http://schemas.microsoft.com/office/drawing/2014/main" id="{72701807-F97B-656C-0275-A4CEBAF09BB5}"/>
              </a:ext>
            </a:extLst>
          </p:cNvPr>
          <p:cNvSpPr>
            <a:spLocks noGrp="1"/>
          </p:cNvSpPr>
          <p:nvPr>
            <p:ph type="body"/>
          </p:nvPr>
        </p:nvSpPr>
        <p:spPr>
          <a:xfrm>
            <a:off x="457200" y="1282045"/>
            <a:ext cx="8229240" cy="4299755"/>
          </a:xfrm>
        </p:spPr>
        <p:txBody>
          <a:bodyPr>
            <a:normAutofit fontScale="55000" lnSpcReduction="20000"/>
          </a:bodyPr>
          <a:lstStyle/>
          <a:p>
            <a:pPr marL="0" indent="0">
              <a:buNone/>
            </a:pPr>
            <a:r>
              <a:rPr lang="en-US" b="1" dirty="0"/>
              <a:t>Future Opportunities in EV Sector</a:t>
            </a:r>
          </a:p>
          <a:p>
            <a:r>
              <a:rPr lang="en-US" dirty="0"/>
              <a:t>The future of Electric Vehicles in India is very promising. With continuous technological advancements and government support, EV adoption is expected to grow significantly.</a:t>
            </a:r>
          </a:p>
          <a:p>
            <a:pPr marL="0" indent="0">
              <a:buNone/>
            </a:pPr>
            <a:r>
              <a:rPr lang="en-US" b="1" dirty="0"/>
              <a:t>Future Developments:</a:t>
            </a:r>
          </a:p>
          <a:p>
            <a:r>
              <a:rPr lang="en-US" dirty="0"/>
              <a:t>Expansion of charging infrastructure</a:t>
            </a:r>
          </a:p>
          <a:p>
            <a:r>
              <a:rPr lang="en-US" dirty="0"/>
              <a:t>Better battery technology</a:t>
            </a:r>
          </a:p>
          <a:p>
            <a:r>
              <a:rPr lang="en-US" dirty="0"/>
              <a:t>Faster charging systems</a:t>
            </a:r>
          </a:p>
          <a:p>
            <a:r>
              <a:rPr lang="en-US" dirty="0"/>
              <a:t>Smart city integration</a:t>
            </a:r>
          </a:p>
          <a:p>
            <a:r>
              <a:rPr lang="en-US" dirty="0"/>
              <a:t>Renewable energy integration</a:t>
            </a:r>
          </a:p>
          <a:p>
            <a:pPr marL="0" indent="0">
              <a:buNone/>
            </a:pPr>
            <a:r>
              <a:rPr lang="en-US" b="1" dirty="0"/>
              <a:t>Employment Opportunities:</a:t>
            </a:r>
          </a:p>
          <a:p>
            <a:r>
              <a:rPr lang="en-US" dirty="0"/>
              <a:t>EV manufacturing jobs</a:t>
            </a:r>
          </a:p>
          <a:p>
            <a:r>
              <a:rPr lang="en-US" dirty="0"/>
              <a:t>Battery technology research</a:t>
            </a:r>
          </a:p>
          <a:p>
            <a:r>
              <a:rPr lang="en-US" dirty="0"/>
              <a:t>Charging infrastructure management</a:t>
            </a:r>
          </a:p>
          <a:p>
            <a:r>
              <a:rPr lang="en-US" dirty="0"/>
              <a:t>Software and automation roles</a:t>
            </a:r>
          </a:p>
          <a:p>
            <a:endParaRPr lang="en-IN" dirty="0"/>
          </a:p>
        </p:txBody>
      </p:sp>
    </p:spTree>
    <p:extLst>
      <p:ext uri="{BB962C8B-B14F-4D97-AF65-F5344CB8AC3E}">
        <p14:creationId xmlns:p14="http://schemas.microsoft.com/office/powerpoint/2010/main" val="309386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7EBC-02AC-DE32-EAD3-43807BC76DE2}"/>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4E2DF5F6-AAA7-13B5-76D2-4C67D11271AA}"/>
              </a:ext>
            </a:extLst>
          </p:cNvPr>
          <p:cNvSpPr>
            <a:spLocks noGrp="1"/>
          </p:cNvSpPr>
          <p:nvPr>
            <p:ph type="body"/>
          </p:nvPr>
        </p:nvSpPr>
        <p:spPr>
          <a:xfrm>
            <a:off x="245097" y="1348033"/>
            <a:ext cx="8441343" cy="4233767"/>
          </a:xfrm>
        </p:spPr>
        <p:txBody>
          <a:bodyPr>
            <a:normAutofit/>
          </a:bodyPr>
          <a:lstStyle/>
          <a:p>
            <a:pPr>
              <a:buNone/>
            </a:pPr>
            <a:r>
              <a:rPr lang="en-US" sz="2200" dirty="0"/>
              <a:t>   Electric Vehicles represent the future of transportation in India. They provide environmental, economic, and technological benefits. Government initiatives and increasing public awareness are helping accelerate EV adoption.</a:t>
            </a:r>
          </a:p>
          <a:p>
            <a:pPr>
              <a:buNone/>
            </a:pPr>
            <a:r>
              <a:rPr lang="en-US" sz="2200" dirty="0"/>
              <a:t>Although challenges such as charging infrastructure and battery costs still exist, continuous innovation and policy support are expected to improve the EV ecosystem in the coming years.</a:t>
            </a:r>
          </a:p>
          <a:p>
            <a:pPr>
              <a:buNone/>
            </a:pPr>
            <a:endParaRPr lang="en-US" sz="2200" dirty="0"/>
          </a:p>
          <a:p>
            <a:pPr>
              <a:buNone/>
            </a:pPr>
            <a:r>
              <a:rPr lang="en-US" b="1" dirty="0"/>
              <a:t>Final Statement:</a:t>
            </a:r>
          </a:p>
          <a:p>
            <a:pPr>
              <a:buNone/>
            </a:pPr>
            <a:r>
              <a:rPr lang="en-US" sz="2400" dirty="0"/>
              <a:t>India has strong potential to become one of the world’s leading EV markets in the future.</a:t>
            </a:r>
          </a:p>
          <a:p>
            <a:endParaRPr lang="en-IN" dirty="0"/>
          </a:p>
        </p:txBody>
      </p:sp>
    </p:spTree>
    <p:extLst>
      <p:ext uri="{BB962C8B-B14F-4D97-AF65-F5344CB8AC3E}">
        <p14:creationId xmlns:p14="http://schemas.microsoft.com/office/powerpoint/2010/main" val="3572915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37999</TotalTime>
  <Words>748</Words>
  <Application>Microsoft Office PowerPoint</Application>
  <PresentationFormat>On-screen Show (4:3)</PresentationFormat>
  <Paragraphs>117</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PowerPoint Presentation</vt:lpstr>
      <vt:lpstr>PowerPoint Presentation</vt:lpstr>
      <vt:lpstr>Problem Statement</vt:lpstr>
      <vt:lpstr>Objectives of Research</vt:lpstr>
      <vt:lpstr>Types of Electric Vehicles</vt:lpstr>
      <vt:lpstr>Current EV Market in India</vt:lpstr>
      <vt:lpstr>Advantages of Electric Vehicles</vt:lpstr>
      <vt:lpstr>Challenges in EV Adoption</vt:lpstr>
      <vt:lpstr>Future Scope of EVs in India</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vishal kumar</cp:lastModifiedBy>
  <cp:revision>2302</cp:revision>
  <dcterms:created xsi:type="dcterms:W3CDTF">2010-04-09T07:36:15Z</dcterms:created>
  <dcterms:modified xsi:type="dcterms:W3CDTF">2026-05-17T17:56:37Z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